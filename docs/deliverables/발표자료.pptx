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6576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DB4DE"/>
                </a:solidFill>
                <a:latin typeface="맑은 고딕"/>
              </a:rPr>
              <a:t>AIoT 개인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맑은 고딕"/>
              </a:rPr>
              <a:t>드론관제시스템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8D2E4"/>
                </a:solidFill>
                <a:latin typeface="맑은 고딕"/>
              </a:rPr>
              <a:t>CCTV · 더미캠 영상 기반 인원 밀집도 관제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DB4DE"/>
                </a:solidFill>
                <a:latin typeface="맑은 고딕"/>
              </a:rPr>
              <a:t>YOLOv8 + ByteTrack 영상분석 · Spring Boot 백엔드 · 웹/모바일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개인 프로젝트 (기획 · 설계 · 구현 · 검증 전 과정 단독 수행)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B4DE"/>
                </a:solidFill>
                <a:latin typeface="맑은 고딕"/>
              </a:rPr>
              <a:t>AIoT 부트캠프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5FA8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27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A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프로젝트 소개 · 기획 의도 · 차별화 · 기능 · 개발환경 · 기대효과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08813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5FA8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5117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A"/>
                </a:solidFill>
                <a:latin typeface="맑은 고딕"/>
              </a:rPr>
              <a:t>수행 절차 ·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90088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와이어프레임 · 화면 구성 (WBS·요구사항·기능명세서는 별첨 Excel)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47288"/>
            <a:ext cx="108813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57016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5FA8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753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A"/>
                </a:solidFill>
                <a:latin typeface="맑은 고딕"/>
              </a:rPr>
              <a:t>설계 및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14216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AI 모델 검증 · 시스템 구성 · 핵심 코드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71416"/>
            <a:ext cx="108813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81144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5FA8"/>
                </a:solidFill>
                <a:latin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994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A"/>
                </a:solidFill>
                <a:latin typeface="맑은 고딕"/>
              </a:rPr>
              <a:t>평가 및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038344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성과 · 아쉬운 점 · 향후 확장 계획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95544"/>
            <a:ext cx="108813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05272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5FA8"/>
                </a:solidFill>
                <a:latin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623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A"/>
                </a:solidFill>
                <a:latin typeface="맑은 고딕"/>
              </a:rPr>
              <a:t>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606247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예상 질문 및 답변 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7033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43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4E9F2"/>
                </a:solidFill>
                <a:latin typeface="맑은 고딕"/>
              </a:rPr>
              <a:t>프로젝트 소개 · 기획 의도 · 차별화 · 주요 기능 · 개발환경 · 기대효과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01-1   ·   산출물 가이드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프로젝트명 및 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6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B2A4A"/>
                </a:solidFill>
                <a:latin typeface="맑은 고딕"/>
              </a:rPr>
              <a:t>드론관제시스템 (CCTV · 더미캠 영상 기반 관제 시스템)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5A5A"/>
                </a:solidFill>
                <a:latin typeface="맑은 고딕"/>
              </a:rPr>
              <a:t>촬영된(또는 녹화된) 영상을 분석해 구역별 인원수 · 이동 · 밀집도를 집계하고, 지도 기반 PC 대시보드와 모바일 앱으로 보여주는 관제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팀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1206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맑은 고딕"/>
              </a:rPr>
              <a:t>●  개인 프로젝트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180" b="0">
                <a:solidFill>
                  <a:srgbClr val="222222"/>
                </a:solidFill>
                <a:latin typeface="맑은 고딕"/>
              </a:rPr>
              <a:t>—  기획 · 설계 · 백엔드 · 분석서버 · 웹/모바일 프론트엔드 · DB까지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180" b="0">
                <a:solidFill>
                  <a:srgbClr val="222222"/>
                </a:solidFill>
                <a:latin typeface="맑은 고딕"/>
              </a:rPr>
              <a:t>—  전 영역을 본인이 단독으로 기획하고 구현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맑은 고딕"/>
              </a:rPr>
              <a:t>●  AIoT 부트캠프 과정 중 수행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180" b="0">
                <a:solidFill>
                  <a:srgbClr val="222222"/>
                </a:solidFill>
                <a:latin typeface="맑은 고딕"/>
              </a:rPr>
              <a:t>—  수업에서 배운 Java/Spring을 '실무처럼' 적용해보는 것이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889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담당 기능 (1인 전 영역 담당)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3200400"/>
          <a:ext cx="5760719" cy="2286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28216"/>
                <a:gridCol w="4032503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모듈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담당 내용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analysis-server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YOLOv8s+ByteTrack 영상분석, Flask API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backend-api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Spring Boot+MyBatis REST API, 인증/이벤트/통계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web-dashboard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지도+그래프+히트맵 PC 대시보드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mobile-app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Android 앱(로그인·지도·이벤트)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MySQL 스키마 설계(12개 테이블)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01-2   ·   산출물 가이드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주제 선정 배경 · 기획 의도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57600" cy="2606040"/>
          </a:xfrm>
          <a:prstGeom prst="roundRect">
            <a:avLst>
              <a:gd name="adj" fmla="val 6000"/>
            </a:avLst>
          </a:prstGeom>
          <a:solidFill>
            <a:srgbClr val="FB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73152" cy="2606040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0622A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다중 인파가 모이는 역·광장·행사장에서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기존 CCTV는 '사람이 직접 영상을 계속 들여다봐야'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위험 신호를 알아챌 수 있음 — 자동 경고 체계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2560320"/>
            <a:ext cx="45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 i="0">
                <a:solidFill>
                  <a:srgbClr val="5A5A5A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657600" cy="2606040"/>
          </a:xfrm>
          <a:prstGeom prst="roundRect">
            <a:avLst>
              <a:gd name="adj" fmla="val 6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2606040"/>
          </a:xfrm>
          <a:prstGeom prst="rect">
            <a:avLst/>
          </a:prstGeom>
          <a:solidFill>
            <a:srgbClr val="2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5FA8"/>
                </a:solidFill>
                <a:latin typeface="맑은 고딕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YOLO 기반 영상분석으로 구역별 인원수 ·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밀집도를 자동 산출하고, 임계치를 넘으면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이벤트를 자동 생성해 관리자에게 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560320"/>
            <a:ext cx="45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 i="0">
                <a:solidFill>
                  <a:srgbClr val="5A5A5A"/>
                </a:solidFill>
                <a:latin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657600" cy="2606040"/>
          </a:xfrm>
          <a:prstGeom prst="roundRect">
            <a:avLst>
              <a:gd name="adj" fmla="val 6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508760"/>
            <a:ext cx="73152" cy="26060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E7D4F"/>
                </a:solidFill>
                <a:latin typeface="맑은 고딕"/>
              </a:rPr>
              <a:t>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9456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관제 담당자가 수십 대 카메라를 상시 주시하지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않아도, 위험 구역만 선별적으로 빠르게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확인·대응할 수 있는 구조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구체적 니즈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097280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현장 관리자/관제 담당자: 여러 구역을 지도에서 한눈에 보고, 혼잡 단계(정상/주의/위험)를 색으로 즉시 식별하고 싶음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관리자: 밀집도 임계치를 구역 특성에 맞게 직접 설정하고, 발생한 이벤트를 확인 → 조치완료까지 이력으로 남기고 싶음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조직: 실제 라이브 카메라가 없어도(녹화 영상 더미캠으로) 시스템 동작을 데모·검증할 수 있어야 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01-3   ·   산출물 가이드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유사 서비스 분석 · 차별화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19" cy="21031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9437"/>
                <a:gridCol w="4003212"/>
                <a:gridCol w="438447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비교 대상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① 전통 CCTV 관제센터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다채널 영상을 모니터에 송출, 사람이 직접 상시 감시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인력 상시 투입 필요, 밀집도 수치화·자동 경고 없음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② 오픈소스 NVR (Shinobi, ZoneMinder 등)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녹화 · 모션감지 · 다채널 관리에 특화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AI 기반 인원수 · 밀집도 분석, 구역별 임계치 이벤트 기능은 없음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③ 상용 AI 인원계수 · 스마트시티 솔루션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고정밀 카운팅, 통합 관제 플랫폼 제공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폐쇄형 고가 패키지 — 개인/소규모 조직이 커스터마이징하기 어려움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본 프로젝트의 차별화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09728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오픈소스 YOLOv8s + ByteTrack을 직접 구현 — 상용 패키지 없이 자체 인원탐지 · 추적 · 이동분석 파이프라인 구축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구역별 밀집도를 자동 계산하고 1 · 2단계 임계치를 넘으면 자동으로 이벤트 생성 — 중복 생성 방지 로직까지 포함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웹(PC 관제) + 모바일(현장 관리자) 두 클라이언트를 같은 백엔드로 동시 지원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실제 라이브 카메라가 없는 상태에서도 더미캠(녹화영상)으로 실시간처럼 동작을 검증 · 데모할 수 있는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01-4   ·   산출물 가이드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주요 기능 · 서비스 컨셉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핵심 사용자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① 로그인 후 지역 필터(시/구/동)로 관심 지역 선택</a:t>
            </a:r>
          </a:p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② 지도에서 구역별 카메라 마커(정상/주의/위험 색상) 확인, 카메라 카드 그리드에서 실시간 라이브뷰 · 인원 · 이벤트 수 조회</a:t>
            </a:r>
          </a:p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③ 카드 클릭 → 확대 모달에서 인원 · 밀집도 · 체류시간 · 1분 단위 그래프 · 이동분석(속도 · 방향) 확인</a:t>
            </a:r>
          </a:p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④ 밀집도가 임계치를 넘으면 자동으로 이벤트 발생 → 관리자가 이벤트 탭에서 확인 → 조치완료 처리(메모 포함)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계획 기능 vs 실제 구현 기능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886200"/>
          <a:ext cx="11247119" cy="2514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190978"/>
                <a:gridCol w="2595489"/>
                <a:gridCol w="3460652"/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회원가입/로그인/권한(4단계) · 승인 흐름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최초 가입자 자동 SUPER_ADMIN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지역 · 구역 · 카메라 CRUD, 인접구역 자동등록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영상분석(탐지 · 추적 · 유입유출 · 이동분석)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YOLOv8s + ByteTrack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실시간 라이브뷰 · 통계 그래프 · 지도 연동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web · mobile 모두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이벤트 자동 생성 · 확인 · 조치완료 · 작업이력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통계 엑셀 다운로드 / 실시간 SSE 스트림 / 녹화 재생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설계 완료 · 구현 예정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API 경로까지 설계됨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01-5   ·   산출물 가이드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개발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8" cy="44805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95456"/>
                <a:gridCol w="6349180"/>
                <a:gridCol w="2902482"/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모듈별 내용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언어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Java 17 (backend-api) · Python (analysis-server) · JavaScript (web-dashboard) · Java (mobile-app, Kotlin 아님)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프레임워크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Spring Boot 3.3.5 + MyBatis (Maven) / Flask + ultralytics YOLOv8s + OpenCV / 순수 HTML·JS + Chart.js / Android SDK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JPA 미사용(복잡한 집계 SQL에 MyBatis가 더 적합)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데이터베이스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MySQL 8 (db_dronecontrol, 12개 테이블)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IDE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IntelliJ IDEA (backend-api) · Android Studio (mobile-app)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analysis-server/web-dashboard는 README에 IDE 명시 없음 — 확인 필요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빌드 도구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Maven (backend-api) · Gradle 9.7.1 + AGP 9.4.1 (mobile-app)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web-dashboard는 빌드 도구 없이 정적 서빙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형상관리 · 협업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Git / GitHub (개인 저장소, 단독 개발로 PR 리뷰 절차는 없음)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Git LFS로 영상 8개 관리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인프라 · 장비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로컬 PC(Windows, MySQL80 서비스) · Android 에뮬레이터(API 37)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실 서버 배포는 미수행(로컬 검증)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외부 API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Google Maps JavaScript API(web) · Google Maps SDK for Android(mobile)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222222"/>
                          </a:solidFill>
                          <a:latin typeface="맑은 고딕"/>
                        </a:rPr>
                        <a:t>웹/안드로이드 키 별도 발급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01-6   ·   산출물 가이드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활용 방안 · 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활용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9496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50" b="1">
                <a:solidFill>
                  <a:srgbClr val="1B2A4A"/>
                </a:solidFill>
                <a:latin typeface="맑은 고딕"/>
              </a:rPr>
              <a:t>●  지자체 다중밀집지역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130" b="0">
                <a:solidFill>
                  <a:srgbClr val="222222"/>
                </a:solidFill>
                <a:latin typeface="맑은 고딕"/>
              </a:rPr>
              <a:t>—  지하철역 광장, 축제 · 행사장 임시 관제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50" b="1">
                <a:solidFill>
                  <a:srgbClr val="1B2A4A"/>
                </a:solidFill>
                <a:latin typeface="맑은 고딕"/>
              </a:rPr>
              <a:t>●  상업시설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130" b="0">
                <a:solidFill>
                  <a:srgbClr val="222222"/>
                </a:solidFill>
                <a:latin typeface="맑은 고딕"/>
              </a:rPr>
              <a:t>—  쇼핑몰, 대형 전시장 혼잡도 모니터링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50" b="1">
                <a:solidFill>
                  <a:srgbClr val="1B2A4A"/>
                </a:solidFill>
                <a:latin typeface="맑은 고딕"/>
              </a:rPr>
              <a:t>●  소규모 조직의 자체 관제 구축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130" b="0">
                <a:solidFill>
                  <a:srgbClr val="222222"/>
                </a:solidFill>
                <a:latin typeface="맑은 고딕"/>
              </a:rPr>
              <a:t>—  상용 패키지 없이 오픈소스로 자체 구축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기대 효과 (실측 근거)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00" b="1">
                <a:solidFill>
                  <a:srgbClr val="1B2A4A"/>
                </a:solidFill>
                <a:latin typeface="맑은 고딕"/>
              </a:rPr>
              <a:t>●  탐지 정확도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080" b="0">
                <a:solidFill>
                  <a:srgbClr val="222222"/>
                </a:solidFill>
                <a:latin typeface="맑은 고딕"/>
              </a:rPr>
              <a:t>—  비겹침 구도 영상 기준 평균 67~86명 탐지, 육안 체감치와 근접(crosswalk_moderate ~67명, stadium_plaza ~86명)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200" b="1">
                <a:solidFill>
                  <a:srgbClr val="1B2A4A"/>
                </a:solidFill>
                <a:latin typeface="맑은 고딕"/>
              </a:rPr>
              <a:t>●  다중 카메라 안정성</a:t>
            </a:r>
          </a:p>
          <a:p>
            <a:pPr marL="256032" indent="0">
              <a:lnSpc>
                <a:spcPct val="130000"/>
              </a:lnSpc>
              <a:spcAft>
                <a:spcPts val="800"/>
              </a:spcAft>
            </a:pPr>
            <a:r>
              <a:rPr sz="1080" b="0">
                <a:solidFill>
                  <a:srgbClr val="222222"/>
                </a:solidFill>
                <a:latin typeface="맑은 고딕"/>
              </a:rPr>
              <a:t>—  7대 동시 구동 시 경량 영상 8~14fps, 4K 영상 2.3~3.0fps로 끊김없이 유지(성능버그 11건 수정 후 실측)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43400"/>
            <a:ext cx="11247120" cy="1737360"/>
          </a:xfrm>
          <a:prstGeom prst="roundRect">
            <a:avLst>
              <a:gd name="adj" fmla="val 6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맑은 고딕"/>
              </a:rPr>
              <a:t>정성적 기대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1069848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상시 감시 인력 부담 경감 — 혼잡 단계(정상/주의/위험)가 자동 판정되어 관제 담당자는 위험 구역 위주로 대응</a:t>
            </a:r>
          </a:p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구역별 임계치를 직접 조정할 수 있어 장소 특성(좁은 통로 vs 넓은 광장)에 맞춘 민감도 설정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F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7033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수행 절차 ·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43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4E9F2"/>
                </a:solidFill>
                <a:latin typeface="맑은 고딕"/>
              </a:rPr>
              <a:t>와이어프레임 · 화면별 기능 설명 (WBS · 요구사항명세서 · 기능명세서는 별첨 Excel 참고)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02-1   ·   산출물 가이드 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와이어프레임 · 화면별 기능 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A4A"/>
                </a:solidFill>
                <a:latin typeface="맑은 고딕"/>
              </a:rPr>
              <a:t>web-dashboard (PC) — 메인 화면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상단바: 제목 · 탭(대시보드/통계/이벤트) · 혼잡단계 범례 · 로그아웃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39496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지역 필터: 시 › 구 › 동 (3단 드롭다운)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87752"/>
            <a:ext cx="5394960" cy="1508760"/>
          </a:xfrm>
          <a:prstGeom prst="rect">
            <a:avLst/>
          </a:prstGeom>
          <a:solidFill>
            <a:srgbClr val="DCE8F7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6090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5FA8"/>
                </a:solidFill>
                <a:latin typeface="맑은 고딕"/>
              </a:rPr>
              <a:t>구글 지도 (드래그 높이조절)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구역별 상태색 카메라 마커 + 이벤트 수 배지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마커 클릭 → 확대 모달 / 빈 곳 우클릭 → 구역·카메라 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394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6110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A"/>
                </a:solidFill>
                <a:latin typeface="맑은 고딕"/>
              </a:rPr>
              <a:t>카메라 카드 그리드 (구역별)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체크박스 · 상태뱃지 · 위치 · 실시간 썸네일 · 인원/이벤트 수 · 액션버튼(분석시작/중단)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클릭 시 확대모달: 그래프 + MJPEG 라이브뷰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좌하단 '▶통계' 버튼으로 통계 패널 오버레이 사이드바 오픈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801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A4A"/>
                </a:solidFill>
                <a:latin typeface="맑은 고딕"/>
              </a:rPr>
              <a:t>mobile-app (Android) — 화면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5394960" cy="658368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647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A3D9A"/>
                </a:solidFill>
                <a:latin typeface="맑은 고딕"/>
              </a:rPr>
              <a:t>LoginActivity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391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로그인 / 회원가입 탭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134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41448"/>
            <a:ext cx="5394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A3D9A"/>
                </a:solidFill>
                <a:latin typeface="맑은 고딕"/>
              </a:rPr>
              <a:t>PendingApprovalActivity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889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PRE_USER 승인대기 안내(로그아웃만 가능)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0632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191256"/>
            <a:ext cx="5394960" cy="658368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2644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A3D9A"/>
                </a:solidFill>
                <a:latin typeface="맑은 고딕"/>
              </a:rPr>
              <a:t>MainActivity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387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구역 목록 + 대표 캠 상태, pull-to-refresh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81304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41064"/>
            <a:ext cx="5394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1421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A3D9A"/>
                </a:solidFill>
                <a:latin typeface="맑은 고딕"/>
              </a:rPr>
              <a:t>ZoneDetailActivity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885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인원/밀집도/체류시간 폴링, 가동·정지, WebView 라이브뷰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56285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690872"/>
            <a:ext cx="5394960" cy="658368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76402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A3D9A"/>
                </a:solidFill>
                <a:latin typeface="맑은 고딕"/>
              </a:rPr>
              <a:t>MapActivity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383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구역 마커, 마커 클릭 → 구역상세 이동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31266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5440680"/>
            <a:ext cx="5394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5138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A3D9A"/>
                </a:solidFill>
                <a:latin typeface="맑은 고딕"/>
              </a:rPr>
              <a:t>EventListActivity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7881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이벤트 목록, 관리자는 확인/조치완료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02-2   ·   산출물 가이드 #10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유스케이스 다이어그램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471" y="1234440"/>
            <a:ext cx="7308577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 (별첨: diagrams/10_usecase.png·pdf)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6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7033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설계 및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43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4E9F2"/>
                </a:solidFill>
                <a:latin typeface="맑은 고딕"/>
              </a:rPr>
              <a:t>시스템 구성 · 데이터 흐름 · ERD · AI 모델 검증 · 드론/IoT 연동 범위 · 핵심 코드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03-1   ·   산출물 가이드 #12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시스템 · 서비스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084" y="1234440"/>
            <a:ext cx="712535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 (별첨: diagrams/12_system_architecture.png·pdf)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03-2   ·   산출물 가이드 #13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데이터 수집 · 활용 절차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95" y="1234440"/>
            <a:ext cx="8025529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 (별첨: diagrams/13_data_flow.png·pdf)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03-3   ·   산출물 가이드 #14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ERD (Entity-Relationship Diagram)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65" y="1234440"/>
            <a:ext cx="717979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 (별첨: diagrams/14_erd.png·pdf, 전체 컬럼은 명세서 워크북 참고)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03-4   ·   산출물 가이드 #16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AI 모델 · 성능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모델 선정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OpenCV 내장 HOG+SVM 탐지 1차 시도 → 박스가 부정확해 제외</a:t>
            </a:r>
          </a:p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YOLOv8n(경량) → 추론 해상도 기본값(640)으로는 밀집 군중 속 작고 먼 사람을 거의 못 잡음(화면 아래쪽 큰 사람만 탐지)</a:t>
            </a:r>
          </a:p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YOLOv8s + 추론 해상도 1280으로 상향 → 동일 영상에서 평균 탐지 인원 4명 → 11명으로 개선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00400"/>
          <a:ext cx="7498076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98879"/>
                <a:gridCol w="1771199"/>
                <a:gridCol w="2656799"/>
                <a:gridCol w="1771199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모델/설정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테스트 영상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평균 탐지 인원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YOLOv8n, imgsz 640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극밀집 군중(~150명 겹침)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~4명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2차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YOLOv8s, imgsz 1280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극밀집 군중(동일 영상)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~11명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3차(영상 교체)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YOLOv8s, imgsz 1280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비겹침 항공뷰 횡단보도(~67명)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~67명 (육안과 근접)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320040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B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3375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0622A"/>
                </a:solidFill>
                <a:latin typeface="맑은 고딕"/>
              </a:rPr>
              <a:t>추적: ultralytics 내장 ByteTrack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0622A"/>
                </a:solidFill>
                <a:latin typeface="맑은 고딕"/>
              </a:rPr>
              <a:t>(model.track()) — 별도 DeepSORT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0622A"/>
                </a:solidFill>
                <a:latin typeface="맑은 고딕"/>
              </a:rPr>
              <a:t>설치 불필요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A4A"/>
                </a:solidFill>
                <a:latin typeface="맑은 고딕"/>
              </a:rPr>
              <a:t>검증 방법 및 한계 (솔직한 평가)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YOLO는 COCO로 사전학습된 범용 모델 — 영상별로 '학습'시키는 게 아니라 모델 크기 · 추론 해상도 · 신뢰도 임계치(conf 0.35)를 조정해 정확도를 높이는 방식.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수백 명이 겹쳐 보이는 극단적 밀집 장면은 더 큰 모델(YOLOv8m/l)을 쓰거나 카메라 각도가 덜 가파른 영상을 고르지 않는 한 일부 누락이 불가피함을 확인.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03-5   ·   산출물 가이드 #17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드론 · IoT · 하드웨어 연동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B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622A"/>
                </a:solidFill>
                <a:latin typeface="맑은 고딕"/>
              </a:rPr>
              <a:t>해당 없음 — 실제 드론 비행체 · 센서 하드웨어는 사용하지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'드론관제시스템'이라는 과제명과 달리, 실제 구현은 CCTV/더미캠(녹화 영상) 기반 영상분석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왜 실제 드론/하드웨어를 쓰지 않았는가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097280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실제 드론 비행(비행 허가, 기체, 조종 인프라)과 센서 하드웨어 확보는 개인 프로젝트 범위와 기간을 초과</a:t>
            </a:r>
          </a:p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핵심 가치(영상에서 인원·밀집도를 분석하는 파이프라인)는 영상 소스가 드론이든 CCTV든 동일하게 검증 가능하다고 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설계상 고려한 확장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09728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cameras.source_type은 LIVE/DUMMY ENUM으로 설계 — 실제 RTSP 라이브 소스(드론 영상 포함)도 구조적으로 수용 가능</a:t>
            </a:r>
          </a:p>
          <a:p>
            <a:pPr marL="0" indent="0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analysis-server는 '라이브 RTSP 또는 더미 영상 파일'을 입력으로 받도록 설계되어 있으나, 실제 검증은 전부 더미 영상 파일 기준으로만 수행 — RTSP 라이브 스트림 및 실제 드론/하드웨어 연동 테스트는 미수행(확인 필요 항목으로 명시)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03-6   ·   산출물 가이드 #18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핵심 코드 ① — 유입 · 유출 판정 로직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400800" cy="3931920"/>
          </a:xfrm>
          <a:prstGeom prst="roundRect">
            <a:avLst>
              <a:gd name="adj" fmla="val 6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92608"/>
          </a:xfrm>
          <a:prstGeom prst="roundRect">
            <a:avLst>
              <a:gd name="adj" fmla="val 6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08176"/>
            <a:ext cx="6126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8C8"/>
                </a:solidFill>
                <a:latin typeface="Consolas"/>
              </a:rPr>
              <a:t>analysis-server/core/analyzer.py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6035040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def zone_of(cx, cy, width, height):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margin_x = width * MARGIN_RATIO   # 화면 안쪽 15%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margin_y = height * MARGIN_RATIO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if margin_x &lt;= cx &lt;= width-margin_x and margin_y &lt;= cy &lt;= height-margin_y: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    return "CENTER"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7A8AA8"/>
                </a:solidFill>
                <a:latin typeface="Consolas"/>
              </a:rPr>
              <a:t>    # 가장 가까운 가장자리를 N/E/S/W로 판정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...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7A8AA8"/>
                </a:solidFill>
                <a:latin typeface="Consolas"/>
              </a:rPr>
              <a:t># 트랙 ID별 이전 구역(prev)과 현재 구역(zone) 비교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prev = last_zone.get(track_id)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if prev is not None and prev != zone: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if prev != "CENTER" and zone == "CENTER":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    second_in[prev] += 1          # 가장자리 -&gt; 중앙 = 유입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elif prev == "CENTER" and zone != "CENTER":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E4E4E8"/>
                </a:solidFill>
                <a:latin typeface="Consolas"/>
              </a:rPr>
              <a:t>        second_out[zone] += 1         # 중앙 -&gt; 가장자리 = 유출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17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2A4A"/>
                </a:solidFill>
                <a:latin typeface="맑은 고딕"/>
              </a:rPr>
              <a:t>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83080"/>
            <a:ext cx="4572000" cy="3566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화면 안쪽 15% 지점을 판정선으로 두고 CENTER/N/E/S/W 8개 구역으로 분류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트랙 ID별 '직전 구역'과 '현재 구역'을 비교해 가장자리→중앙 전환을 유입, 중앙→가장자리 전환을 유출로 집계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화면 안에서 새로 생기거나(사람이 중앙에서 처음 탐지) 사라지는 경우는 유입/유출에서 제외 — 판정선을 실제로 '통과'한 경우만 집계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ByteTrack이 부여한 track_id가 프레임 간 유지되기 때문에 이 비교가 가능 — 탐지만으로는 유입/유출을 구분할 수 없고, 추적(ID 유지)이 반드시 필요한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03-7   ·   산출물 가이드 #18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핵심 코드 ② — 혼잡 이벤트 자동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675120" cy="5257800"/>
          </a:xfrm>
          <a:prstGeom prst="roundRect">
            <a:avLst>
              <a:gd name="adj" fmla="val 6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6675120" cy="292608"/>
          </a:xfrm>
          <a:prstGeom prst="roundRect">
            <a:avLst>
              <a:gd name="adj" fmla="val 6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8C8"/>
                </a:solidFill>
                <a:latin typeface="Consolas"/>
              </a:rPr>
              <a:t>backend-api/.../event/EventService.java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36776"/>
            <a:ext cx="6309360" cy="47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public void checkAndRecord(int zoneId, Integer cameraId, BigDecimal density) {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List&lt;EventThreshold&gt; thresholds = getThresholds(zoneId);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int crossedLevel = 0;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BigDecimal crossedThreshold = null;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for (EventThreshold t : thresholds) {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    if (density.compareTo(t.getDensityThreshold()) &gt;= 0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            &amp;&amp; t.getLevelNo() &gt; crossedLevel) {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        crossedLevel = t.getLevelNo();          // 더 높은 단계로 갱신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        crossedThreshold = t.getDensityThreshold();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    }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}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if (crossedLevel == 0) return;                   // 임계치 미달 - 종료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if (eventMapper.selectOpenEventForZone(zoneId) != null) {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    return;   // 이미 미처리 이벤트가 있으면 중복 생성 안 함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}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Event event = new Event();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event.setZoneId(zoneId);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event.setLevelNo(crossedLevel);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event.setDensityAtEvent(density);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event.setThresholdDensity(crossedThreshold);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    eventMapper.insertEvent(event);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E4E4E8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2A4A"/>
                </a:solidFill>
                <a:latin typeface="맑은 고딕"/>
              </a:rPr>
              <a:t>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83080"/>
            <a:ext cx="4297680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맑은 고딕"/>
              </a:rPr>
              <a:t>●  StatsService.recordSample()이 분단위 통계를 저장한 직후 매번 호출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맑은 고딕"/>
              </a:rPr>
              <a:t>●  구역별 임계치를 1단계부터 비교해 '넘은 것 중 가장 높은 단계'를 선택(동시에 여러 단계를 넘으면 더 심각한 단계로 기록)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맑은 고딕"/>
              </a:rPr>
              <a:t>●  같은 구역에 아직 처리되지 않은(UNCONFIRMED/CONFIRMED) 이벤트가 있으면 새로 만들지 않음 — 1분마다 계속 중복 이벤트가 쌓이는 것을 방지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맑은 고딕"/>
              </a:rPr>
              <a:t>●  RESOLVED 처리된 뒤 다시 임계치를 넘으면 새 이벤트가 생성됨을 실제 샘플 데이터 연속 전송으로 검증(테스트결과 TC-19)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7033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평가 및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43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4E9F2"/>
                </a:solidFill>
                <a:latin typeface="맑은 고딕"/>
              </a:rPr>
              <a:t>성과 · 목표 달성도 · 아쉬운 점 · 향후 확장 계획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04-1   ·   산출물 가이드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성과 · 목표 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47548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325815"/>
                <a:gridCol w="1730326"/>
                <a:gridCol w="519097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목표 항목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0800" marR="50800" marT="25400" marB="25400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4개 모듈(backend/분석서버/웹/모바일) 최소기능 구현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README 진행상태 체크리스트 전 항목 완료 표시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회원 · 4단계 권한 · 이벤트 자동화 · 작업이력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실제 로그인~승인~이벤트~이력 end-to-end 검증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영상분석(탐지 · 추적 · 유입유출 · 이동분석)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YOLOv8s + ByteTrack, vanly-001~004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16개 카메라 다중 동시 안정 재생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성능 버그 11건 수정 후 2.3~14fps로 안정화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웹(PC) + 모바일(Android) 동시 지원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두 클라이언트 모두 실브라우저/에뮬레이터 검증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통계 엑셀 다운로드 / SSE 스트림 / 녹화 재생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미구현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API 경로까지 설계, 구현은 보류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임계치 설정 UI(관리자 전용 수정 화면)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부분완료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일부는 이동분석 아코디언에 반영, 전용 화면 미구현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실제 드론 · 하드웨어 연동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미구현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개인 프로젝트 범위 밖으로 판단해 제외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비밀번호 재설정 · 관리자 간 관리 기능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미구현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맑은 고딕"/>
                        </a:rPr>
                        <a:t>보안 우선순위상 후순위로 보류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04-2   ·   산출물 가이드 #23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아쉬운 점 · 개선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아쉬운 점 (한계를 숨기지 않고)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9496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1B2A4A"/>
                </a:solidFill>
                <a:latin typeface="맑은 고딕"/>
              </a:rPr>
              <a:t>●  1인 개발로 인한 시간 부족</a:t>
            </a:r>
          </a:p>
          <a:p>
            <a:pPr marL="256032" indent="0">
              <a:lnSpc>
                <a:spcPct val="130000"/>
              </a:lnSpc>
              <a:spcAft>
                <a:spcPts val="700"/>
              </a:spcAft>
            </a:pPr>
            <a:r>
              <a:rPr sz="1080" b="0">
                <a:solidFill>
                  <a:srgbClr val="222222"/>
                </a:solidFill>
                <a:latin typeface="맑은 고딕"/>
              </a:rPr>
              <a:t>—  엑셀 다운로드 · SSE 실시간 스트림 · 녹화 재생 · 임계치 설정 UI 일부가 설계만 완료되고 구현까지 못 감</a:t>
            </a:r>
          </a:p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1B2A4A"/>
                </a:solidFill>
                <a:latin typeface="맑은 고딕"/>
              </a:rPr>
              <a:t>●  극밀집 군중 탐지 한계</a:t>
            </a:r>
          </a:p>
          <a:p>
            <a:pPr marL="256032" indent="0">
              <a:lnSpc>
                <a:spcPct val="130000"/>
              </a:lnSpc>
              <a:spcAft>
                <a:spcPts val="700"/>
              </a:spcAft>
            </a:pPr>
            <a:r>
              <a:rPr sz="1080" b="0">
                <a:solidFill>
                  <a:srgbClr val="222222"/>
                </a:solidFill>
                <a:latin typeface="맑은 고딕"/>
              </a:rPr>
              <a:t>—  수백 명이 겹치는 장면은 YOLOv8s로도 일부 누락 — 더 큰 모델(YOLOv8m/l)이나 카메라 각도 개선 필요</a:t>
            </a:r>
          </a:p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1B2A4A"/>
                </a:solidFill>
                <a:latin typeface="맑은 고딕"/>
              </a:rPr>
              <a:t>●  자동화 테스트 부재</a:t>
            </a:r>
          </a:p>
          <a:p>
            <a:pPr marL="256032" indent="0">
              <a:lnSpc>
                <a:spcPct val="130000"/>
              </a:lnSpc>
              <a:spcAft>
                <a:spcPts val="700"/>
              </a:spcAft>
            </a:pPr>
            <a:r>
              <a:rPr sz="1080" b="0">
                <a:solidFill>
                  <a:srgbClr val="222222"/>
                </a:solidFill>
                <a:latin typeface="맑은 고딕"/>
              </a:rPr>
              <a:t>—  전부 curl/실브라우저/에뮬레이터로 수동 검증 — JUnit/pytest 기반 회귀 테스트는 아직 없음</a:t>
            </a:r>
          </a:p>
          <a:p>
            <a:pPr marL="0" indent="0">
              <a:lnSpc>
                <a:spcPct val="130000"/>
              </a:lnSpc>
              <a:spcAft>
                <a:spcPts val="700"/>
              </a:spcAft>
            </a:pPr>
            <a:r>
              <a:rPr sz="1200" b="1">
                <a:solidFill>
                  <a:srgbClr val="1B2A4A"/>
                </a:solidFill>
                <a:latin typeface="맑은 고딕"/>
              </a:rPr>
              <a:t>●  더미 영상 출처 기록 미흡</a:t>
            </a:r>
          </a:p>
          <a:p>
            <a:pPr marL="256032" indent="0">
              <a:lnSpc>
                <a:spcPct val="130000"/>
              </a:lnSpc>
              <a:spcAft>
                <a:spcPts val="700"/>
              </a:spcAft>
            </a:pPr>
            <a:r>
              <a:rPr sz="1080" b="0">
                <a:solidFill>
                  <a:srgbClr val="222222"/>
                </a:solidFill>
                <a:latin typeface="맑은 고딕"/>
              </a:rPr>
              <a:t>—  Pexels 영상 5개의 정확한 다운로드 페이지 URL을 기록해두지 않아 추적성이 아쉬움(라이선스 자체는 문제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개선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① 통계 엑셀 다운로드 → SSE 스트림 → 녹화 재생 순으로 우선순위를 매겨 순차 구현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② 임계치 설정 전용 관리자 화면 분리 구현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③ 핵심 로직(유입유출 판정, 이벤트 중복방지) 위주로 JUnit 단위 테스트 추가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④ YOLOv8m으로 교체 실험 후 추론 속도 대비 정확도 트레이드오프 재측정</a:t>
            </a:r>
          </a:p>
          <a:p>
            <a:pPr marL="0" indent="0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</a:rPr>
              <a:t>●  ⑤ 앞으로 영상을 새로 받을 때는 다운로드 페이지 URL을 표에 바로 기록하는 규칙 적용(이미 README에 명시)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04-3   ·   산출물 가이드 #24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향후 확장 · 개인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향후 고도화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9496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실제 RTSP 라이브 카메라(기존 CCTV 또는 드론 영상) 연동 실험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통계 엑셀 다운로드 · SSE 실시간 스트림 · 녹화 재생 구현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더 큰 YOLO 모델(v8m/l) 또는 전용 군중계수 모델 비교 실험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구역 간 이동(zone_flows) 기반 멀티존 혼잡 예측(시계열 이상탐지)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이벤트 알림 채널 확장(푸시 알림 · 문자/카카오톡 연동)</a:t>
            </a:r>
          </a:p>
          <a:p>
            <a:pPr marL="0" indent="0">
              <a:lnSpc>
                <a:spcPct val="130000"/>
              </a:lnSpc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맑은 고딕"/>
              </a:rPr>
              <a:t>●  실 서버 배포(클라우드) 및 부하테스트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개인 기여 (1인 프로젝트)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846320" cy="4114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기획 → DB 설계 → 백엔드(Servlet/JDBC→Spring Boot 전환) → 분석서버(PoC→Flask) → 웹 → 모바일 → 통합 → 성능튜닝 → 문서화까지 전 과정 단독 수행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API 엔드포인트 39개 설계(구현 35개 + 설계완료·구현예정 4개, API명세서 참고)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DB 테이블 12개 스키마 설계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라이브뷰 성능 버그 11건을 직접 재현 · 원인분석 · 수정(테스트결과 워크북 TC-01~21)</a:t>
            </a:r>
          </a:p>
          <a:p>
            <a:pPr marL="0" indent="0">
              <a:lnSpc>
                <a:spcPct val="130000"/>
              </a:lnSpc>
              <a:spcAft>
                <a:spcPts val="800"/>
              </a:spcAft>
            </a:pPr>
            <a:r>
              <a:rPr sz="1150" b="1">
                <a:solidFill>
                  <a:srgbClr val="222222"/>
                </a:solidFill>
                <a:latin typeface="맑은 고딕"/>
              </a:rPr>
              <a:t>●  'curl로 검증되어도 브라우저로는 다르게 보일 수 있다'는 교훈을 직접 겪고 육안 확인 습관까지 체득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3D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7033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Q&amp;A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43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4E9F2"/>
                </a:solidFill>
                <a:latin typeface="맑은 고딕"/>
              </a:rPr>
              <a:t>예상 질문 및 답변 — 설계 선택 이유 · 핵심 기술 · 구현 한계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05-1   ·   산출물 가이드 #25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예상 질문 및 답변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왜 YOLOv8n이 아니라 YOLOv8s를 선택했나?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극밀집 군중 영상에서 YOLOv8n은 평균 4명만 탐지했지만, YOLOv8s + 추론해상도 1280 조합은 11명까지 늘었습니다. 추론 속도는 더 느려지지만 '영상 속 인원을 더 정확히 세는 것'이 우선순위라 판단했습니다.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46304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더미캠인데 어떻게 실시간처럼 보이나?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캠을 가동시키면 영상 전체를 먼저 분석해 초단위 결과와 라이브뷰용 프레임을 캐시로 만들어둡니다. 이후 재생은 그 캐시를 '경과시간 기반으로' 순차 조회만 하면 되어, 실제 분석 없이도 실시간처럼 보일 수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4048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밀집도는 어떻게 계산하나?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분석된 인원수(personCount)를 해당 구역의 면적(zones.area_m2)으로 나눈 값입니다. 면적은 구역 등록 시 관리자가 입력하는 값이라, 정확한 면적 측정이 선행되어야 밀집도 수치의 신뢰도가 올라갑니다.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03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384048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왜 Servlet+JDBC에서 Spring Boot로 전면 재작성했나?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수업에서는 Servlet+JDBC를 배웠지만, '실무에서 더 가깝게 써보자'는 목표로 Spring Boot+MyBatis로 전체를 다시 짰습니다. 재작성 후 기존 버전과 동일한 결과(러닝평균·합산 수치 일치)가 나오는지 전부 재검증했습니다.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8D2E4"/>
                </a:solidFill>
                <a:latin typeface="맑은 고딕"/>
              </a:rPr>
              <a:t>05-2   ·   산출물 가이드 #25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예상 질문 및 답변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드론은 실제로 이 프로젝트에서 어떻게 쓰이나?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현재는 실제 드론을 쓰지 않습니다. CCTV/더미캠(녹화영상) 기반으로 핵심 파이프라인을 검증했고, cameras.source_type에 LIVE가 설계돼 있어 실제 드론·RTSP 영상도 구조적으로 수용 가능하지만 검증은 못 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46304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다중 카메라에서 왜 느려졌고 어떻게 고쳤나?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세 가지가 겹쳐 있었습니다 — 세로 영상이 제대로 안 줄어든 문제, sleep 없는 스레드가 GIL을 독점한 문제, 4K 영상에서 따라잡기 비용이 더 커지는 악순환. 각각 축소 기준 변경, 강제 sleep, 스킵 프레임 상한으로 해결했습니다.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4048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엑셀 다운로드 · SSE는 왜 구현하지 못했나?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1인 개발 기간 안에서 '영상분석 → 집계 → 이벤트 알림'이라는 핵심 파이프라인을 먼저 완성도 있게 만드는 것을 우선순위로 뒀습니다. API 경로까지는 설계해뒀고, 다음 개발 단계로 명확히 남겨뒀습니다.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03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3840480"/>
            <a:ext cx="499262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6A3D9A"/>
                </a:solidFill>
                <a:latin typeface="맑은 고딕"/>
              </a:rPr>
              <a:t>Q. 가장 어려웠던 문제는 무엇이었나?</a:t>
            </a:r>
          </a:p>
          <a:p>
            <a:pPr>
              <a:lnSpc>
                <a:spcPct val="125000"/>
              </a:lnSpc>
            </a:pPr>
            <a:r>
              <a:rPr sz="1080">
                <a:solidFill>
                  <a:srgbClr val="222222"/>
                </a:solidFill>
                <a:latin typeface="맑은 고딕"/>
              </a:rPr>
              <a:t>A. 브라우저의 호스트당 동시연결 6개 제한 문제였습니다. curl로는 모든 캠이 정상이었는데 브라우저에서만 캠 1대가 멈춘 것처럼 보였고, 네트워크 탭을 직접 열어 원인을 찾았습니다 — '코드 검증'과 '실제 화면 확인'은 다르다는 걸 체득했습니다.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드론관제시스템 — 개인 프로젝트 발표자료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03320"/>
            <a:ext cx="12191695" cy="36576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8D2E4"/>
                </a:solidFill>
                <a:latin typeface="맑은 고딕"/>
              </a:rPr>
              <a:t>드론관제시스템 — GitHub: rlaeoaud7018/DroneControllSystemApp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