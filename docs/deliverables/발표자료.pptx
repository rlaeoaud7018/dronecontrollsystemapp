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13.png"/><Relationship Id="rId7" Type="http://schemas.openxmlformats.org/officeDocument/2006/relationships/image" Target="../media/image5.png"/><Relationship Id="rId8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6.png"/><Relationship Id="rId5" Type="http://schemas.openxmlformats.org/officeDocument/2006/relationships/image" Target="../media/image10.png"/><Relationship Id="rId6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image" Target="../media/image10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13.png"/><Relationship Id="rId7" Type="http://schemas.openxmlformats.org/officeDocument/2006/relationships/image" Target="../media/image5.png"/><Relationship Id="rId8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8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Relationship Id="rId6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5.png"/><Relationship Id="rId5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8.png"/><Relationship Id="rId4" Type="http://schemas.openxmlformats.org/officeDocument/2006/relationships/image" Target="../media/image12.png"/><Relationship Id="rId5" Type="http://schemas.openxmlformats.org/officeDocument/2006/relationships/image" Target="../media/image5.png"/><Relationship Id="rId6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5.png"/><Relationship Id="rId5" Type="http://schemas.openxmlformats.org/officeDocument/2006/relationships/image" Target="../media/image18.png"/><Relationship Id="rId6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vi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4572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358C"/>
                </a:solidFill>
                <a:latin typeface="맑은 고딕"/>
              </a:rPr>
              <a:t>AIoT 개인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FFFFF"/>
                </a:solidFill>
                <a:latin typeface="맑은 고딕"/>
              </a:rPr>
              <a:t>드론관제시스템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9601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3C358C"/>
                </a:solidFill>
                <a:latin typeface="맑은 고딕"/>
              </a:rPr>
              <a:t>CCTV · 더미캠 영상 기반 인원 밀집도 관제 시스템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886200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3291840" cy="50292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300" b="1">
                <a:solidFill>
                  <a:srgbClr val="363FC9"/>
                </a:solidFill>
                <a:latin typeface="맑은 고딕"/>
              </a:rPr>
              <a:t>YOLOv8 + ByteTrack 영상분석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02A70"/>
                </a:solidFill>
                <a:latin typeface="맑은 고딕"/>
              </a:rPr>
              <a:t>개인 프로젝트 · 기획부터 배포까지 전 과정 단독 수행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290"/>
                </a:solidFill>
                <a:latin typeface="맑은 고딕"/>
              </a:rPr>
              <a:t>AIoT 부트캠프 · 2026</a:t>
            </a:r>
          </a:p>
        </p:txBody>
      </p:sp>
      <p:sp>
        <p:nvSpPr>
          <p:cNvPr id="10" name="Oval 9"/>
          <p:cNvSpPr/>
          <p:nvPr/>
        </p:nvSpPr>
        <p:spPr>
          <a:xfrm>
            <a:off x="10607040" y="27432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0" y="146304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목차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12140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ac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192024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269748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4A55E8"/>
                </a:solidFill>
                <a:latin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310896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프로젝트 개요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794760"/>
            <a:ext cx="190195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소개 · 배경 · 차별화 · 기능 · 환경 · 효과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56916" y="1645920"/>
            <a:ext cx="212140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1920240"/>
            <a:ext cx="594360" cy="594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48356" y="269748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4A55E8"/>
                </a:solidFill>
                <a:latin typeface="맑은 고딕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6644" y="310896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수행 절차 ·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6644" y="3794760"/>
            <a:ext cx="190195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와이어프레임 · 유스케이스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10912" y="1645920"/>
            <a:ext cx="212140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4436" y="1920240"/>
            <a:ext cx="594360" cy="594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02352" y="269748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4A55E8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10896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설계 및 구현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794760"/>
            <a:ext cx="190195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시스템구성 · 데이터흐름 · ERD · AI모델 · 코드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4908" y="1645920"/>
            <a:ext cx="212140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432" y="1920240"/>
            <a:ext cx="594360" cy="594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56348" y="269748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4A55E8"/>
                </a:solidFill>
                <a:latin typeface="맑은 고딕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4636" y="310896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평가 및 개선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4636" y="3794760"/>
            <a:ext cx="190195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성과 · 아쉬운 점 · 향후 확장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18904" y="1645920"/>
            <a:ext cx="212140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bul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2428" y="1920240"/>
            <a:ext cx="594360" cy="5943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610344" y="269748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4A55E8"/>
                </a:solidFill>
                <a:latin typeface="맑은 고딕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8632" y="310896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Q&amp;A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3794760"/>
            <a:ext cx="190195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예상 질문 및 답변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PROJECT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프로젝트명 및 소개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1005840"/>
          </a:xfrm>
          <a:prstGeom prst="roundRect">
            <a:avLst>
              <a:gd name="adj" fmla="val 12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ac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19072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00200" y="1664208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63FC9"/>
                </a:solidFill>
                <a:latin typeface="맑은 고딕"/>
              </a:rPr>
              <a:t>드론관제시스템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05740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83A"/>
                </a:solidFill>
                <a:latin typeface="맑은 고딕"/>
              </a:rPr>
              <a:t>CCTV·더미캠 영상 기반 구역별 인원·밀집도 관제 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88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6283A"/>
                </a:solidFill>
                <a:latin typeface="맑은 고딕"/>
              </a:rPr>
              <a:t>담당 모듈 (1인 전 영역)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82112"/>
            <a:ext cx="2121408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me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2985" y="3438144"/>
            <a:ext cx="721278" cy="72127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" y="4269150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analysis-server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689774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YOLOv8s 영상분석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6916" y="3182112"/>
            <a:ext cx="2121408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6981" y="3438144"/>
            <a:ext cx="721278" cy="72127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48356" y="4269150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backend-api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8356" y="4689774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Spring Boot API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10912" y="3182112"/>
            <a:ext cx="2121408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rows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977" y="3438144"/>
            <a:ext cx="721278" cy="72127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02352" y="4269150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web-dashboard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2352" y="4689774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지도·그래프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4908" y="3182112"/>
            <a:ext cx="2121408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ob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973" y="3438144"/>
            <a:ext cx="721278" cy="72127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356348" y="4269150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mobile-app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6348" y="4689774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Android 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18904" y="3182112"/>
            <a:ext cx="2121408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do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18969" y="3438144"/>
            <a:ext cx="721278" cy="72127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10344" y="4269150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db 설계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0344" y="4689774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12개 테이블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86400"/>
            <a:ext cx="5943600" cy="502920"/>
          </a:xfrm>
          <a:prstGeom prst="roundRect">
            <a:avLst>
              <a:gd name="adj" fmla="val 50000"/>
            </a:avLst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486400"/>
            <a:ext cx="5943600" cy="50292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맑은 고딕"/>
              </a:rPr>
              <a:t>개인 프로젝트 — 기획·설계·구현·검증 전 과정 단독 수행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BACKGROUND &amp;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주제 선정 배경 · 기획 의도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361188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2514600"/>
          </a:xfrm>
          <a:prstGeom prst="rect">
            <a:avLst/>
          </a:prstGeom>
          <a:solidFill>
            <a:srgbClr val="F2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8308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182880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28A3C"/>
                </a:solidFill>
                <a:latin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4231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다중 인파가 모이는 역·광장·행사장에서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기존 CCTV는 사람이 직접 감시해야 하고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자동 경고 체계가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2514600"/>
            <a:ext cx="384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8A8EA3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508760"/>
            <a:ext cx="361188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1508760"/>
            <a:ext cx="73152" cy="251460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ce_sc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78308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39512" y="182880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A55E8"/>
                </a:solidFill>
                <a:latin typeface="맑은 고딕"/>
              </a:rPr>
              <a:t>해결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231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YOLO 기반 영상분석으로 구역별 인원·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밀집도를 자동 산출하고, 임계치 초과 시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이벤트를 자동 생성해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2984" y="2514600"/>
            <a:ext cx="384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8A8EA3"/>
                </a:solidFill>
                <a:latin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1508760"/>
            <a:ext cx="361188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5864" y="1508760"/>
            <a:ext cx="73152" cy="2514600"/>
          </a:xfrm>
          <a:prstGeom prst="rect">
            <a:avLst/>
          </a:prstGeom>
          <a:solidFill>
            <a:srgbClr val="1FA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472" y="178308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15984" y="182880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FA96B"/>
                </a:solidFill>
                <a:latin typeface="맑은 고딕"/>
              </a:rPr>
              <a:t>목표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24231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관제 담당자가 모든 카메라를 상시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주시하지 않아도, 위험 구역만 선별해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빠르게 확인·대응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3434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6283A"/>
                </a:solidFill>
                <a:latin typeface="맑은 고딕"/>
              </a:rPr>
              <a:t>구체적 니즈</a:t>
            </a:r>
          </a:p>
        </p:txBody>
      </p:sp>
      <p:pic>
        <p:nvPicPr>
          <p:cNvPr id="25" name="Picture 24" descr="pers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80060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05840" y="477316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관제 담당자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10235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EA3"/>
                </a:solidFill>
                <a:latin typeface="맑은 고딕"/>
              </a:rPr>
              <a:t>지도에서 혼잡 단계를 색으로 즉시 식별</a:t>
            </a:r>
          </a:p>
        </p:txBody>
      </p:sp>
      <p:pic>
        <p:nvPicPr>
          <p:cNvPr id="28" name="Picture 27" descr="ge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800600"/>
            <a:ext cx="384048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00600" y="477316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관리자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510235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EA3"/>
                </a:solidFill>
                <a:latin typeface="맑은 고딕"/>
              </a:rPr>
              <a:t>구역별 임계치 직접 설정, 이벤트 처리 이력 관리</a:t>
            </a:r>
          </a:p>
        </p:txBody>
      </p:sp>
      <p:pic>
        <p:nvPicPr>
          <p:cNvPr id="31" name="Picture 30" descr="pla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2440" y="4800600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595360" y="477316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조직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510235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EA3"/>
                </a:solidFill>
                <a:latin typeface="맑은 고딕"/>
              </a:rPr>
              <a:t>실카메라 없어도 더미캠으로 실시간처럼 데모·검증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COMPARABLE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유사 서비스 분석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365760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83080"/>
            <a:ext cx="530352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90472" y="1783080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6283A"/>
                </a:solidFill>
                <a:latin typeface="맑은 고딕"/>
              </a:rPr>
              <a:t>전통 CCTV 관제센터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90472" y="2377440"/>
            <a:ext cx="1408176" cy="310896"/>
          </a:xfrm>
          <a:prstGeom prst="roundRect">
            <a:avLst>
              <a:gd name="adj" fmla="val 50000"/>
            </a:avLst>
          </a:prstGeom>
          <a:solidFill>
            <a:srgbClr val="F0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0472" y="2377440"/>
            <a:ext cx="1408176" cy="310896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950" b="1">
                <a:solidFill>
                  <a:srgbClr val="8A8EA3"/>
                </a:solidFill>
                <a:latin typeface="맑은 고딕"/>
              </a:rPr>
              <a:t>폐쇄형 상시감시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926080"/>
            <a:ext cx="307238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31089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63FC9"/>
                </a:solidFill>
                <a:latin typeface="맑은 고딕"/>
              </a:rPr>
              <a:t>특징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3401568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다채널 영상 송출, 사람이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직접 상시 감시해야 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43708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466344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인력 투입 필요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자동 경고 체계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508760"/>
            <a:ext cx="365760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0288" y="1783080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85232" y="1783080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6283A"/>
                </a:solidFill>
                <a:latin typeface="맑은 고딕"/>
              </a:rPr>
              <a:t>오픈소스 NVR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85232" y="2377440"/>
            <a:ext cx="1289304" cy="310896"/>
          </a:xfrm>
          <a:prstGeom prst="roundRect">
            <a:avLst>
              <a:gd name="adj" fmla="val 50000"/>
            </a:avLst>
          </a:prstGeom>
          <a:solidFill>
            <a:srgbClr val="F0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377440"/>
            <a:ext cx="1289304" cy="310896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950" b="1">
                <a:solidFill>
                  <a:srgbClr val="8A8EA3"/>
                </a:solidFill>
                <a:latin typeface="맑은 고딕"/>
              </a:rPr>
              <a:t>녹화·모션감지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90288" y="2926080"/>
            <a:ext cx="307238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31089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63FC9"/>
                </a:solidFill>
                <a:latin typeface="맑은 고딕"/>
              </a:rPr>
              <a:t>특징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401568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Shinobi·ZoneMinder 등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녹화·모션감지에 특화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43708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28A3C"/>
                </a:solidFill>
                <a:latin typeface="맑은 고딕"/>
              </a:rPr>
              <a:t>한계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0288" y="466344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28A3C"/>
                </a:solidFill>
                <a:latin typeface="맑은 고딕"/>
              </a:rPr>
              <a:t>AI 기반 인원·밀집도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28A3C"/>
                </a:solidFill>
                <a:latin typeface="맑은 고딕"/>
              </a:rPr>
              <a:t>분석 기능 자체가 없음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1508760"/>
            <a:ext cx="365760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g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5048" y="1783080"/>
            <a:ext cx="530352" cy="53035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79992" y="1783080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6283A"/>
                </a:solidFill>
                <a:latin typeface="맑은 고딕"/>
              </a:rPr>
              <a:t>상용 AI 인원계수 솔루션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79992" y="237744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0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9992" y="2377440"/>
            <a:ext cx="1645920" cy="310896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950" b="1">
                <a:solidFill>
                  <a:srgbClr val="8A8EA3"/>
                </a:solidFill>
                <a:latin typeface="맑은 고딕"/>
              </a:rPr>
              <a:t>폐쇄형 고가 패키지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85048" y="2926080"/>
            <a:ext cx="307238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31089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63FC9"/>
                </a:solidFill>
                <a:latin typeface="맑은 고딕"/>
              </a:rPr>
              <a:t>특징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5048" y="3401568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고정밀 카운팅,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통합 관제 플랫폼 제공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5048" y="43708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4A55E8"/>
                </a:solidFill>
                <a:latin typeface="맑은 고딕"/>
              </a:rPr>
              <a:t>한계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5048" y="466344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4A55E8"/>
                </a:solidFill>
                <a:latin typeface="맑은 고딕"/>
              </a:rPr>
              <a:t>폐쇄형 고가 패키지라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4A55E8"/>
                </a:solidFill>
                <a:latin typeface="맑은 고딕"/>
              </a:rPr>
              <a:t>커스터마이징이 어려움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440680"/>
            <a:ext cx="11201400" cy="822960"/>
          </a:xfrm>
          <a:prstGeom prst="roundRect">
            <a:avLst>
              <a:gd name="adj" fmla="val 16000"/>
            </a:avLst>
          </a:prstGeom>
          <a:solidFill>
            <a:srgbClr val="EAECFC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check_circ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623560"/>
            <a:ext cx="457200" cy="4572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363FC9"/>
                </a:solidFill>
                <a:latin typeface="맑은 고딕"/>
              </a:rPr>
              <a:t>본 프로젝트는 오픈소스 기반 자체 구현으로 두 접근의 장점을 결합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WHAT MAKES IT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차별화 포인트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ac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196" y="1828800"/>
            <a:ext cx="475488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" y="2395728"/>
            <a:ext cx="2386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자체 AI 파이프라인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798064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YOLOv8s+ByteTrack</a:t>
            </a:r>
          </a:p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직접 구현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3456432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3703320"/>
            <a:ext cx="2203704" cy="1920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추론해상도 1280으로 튜닝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탐지 인원 67~86명 수준 확보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상용 영상분석 패키지 불필요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e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4" y="1828800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19856" y="2395728"/>
            <a:ext cx="2386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자동 이벤트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9856" y="2798064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임계치 기반</a:t>
            </a:r>
          </a:p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혼잡단계 자동 판정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11296" y="3456432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703320"/>
            <a:ext cx="2203704" cy="1920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구역별 1·2단계 임계치 직접 설정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미처리 이벤트 있으면 중복 생성 안 함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RESOLVED 후 재초과 시에만 재생성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17336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rows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2612" y="1828800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27064" y="2395728"/>
            <a:ext cx="2386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웹+모바일 동시 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7064" y="2798064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같은 백엔드로</a:t>
            </a:r>
          </a:p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PC·모바일 동시 제공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18504" y="3456432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3703320"/>
            <a:ext cx="2203704" cy="1920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API 36개를 두 클라이언트가 공유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세션 기반 인증 공통 적용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SSE 실시간 갱신도 웹에서 동일 제공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l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9820" y="1828800"/>
            <a:ext cx="475488" cy="4754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034272" y="2395728"/>
            <a:ext cx="2386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더미캠 데모 구조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798064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라이브 카메라 없이도</a:t>
            </a:r>
          </a:p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실시간처럼 동작 검증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2" y="3456432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0" y="3703320"/>
            <a:ext cx="2203704" cy="1920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cameras.source_type=LIVE/DUMMY 설계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분석 경로는 입력 소스와 무관하게 동일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네트워크·기체 장애 없이 반복 시연 가능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KEY USER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핵심 사용자 시나리오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260604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94944" y="1709928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pic>
        <p:nvPicPr>
          <p:cNvPr id="9" name="Picture 8" descr="per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620" y="2286000"/>
            <a:ext cx="548640" cy="548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" y="2971800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로그인 · 지역 선택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42900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시/구/동 필터로 관심 지역 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7248" y="2743200"/>
            <a:ext cx="182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4A55E8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691640"/>
            <a:ext cx="260604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02152" y="1709928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pic>
        <p:nvPicPr>
          <p:cNvPr id="15" name="Picture 14" descr="map_p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828" y="2286000"/>
            <a:ext cx="548640" cy="5486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19856" y="2971800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지도 · 카드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342900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구역 마커 색상·카메라 카드로 상태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6" y="2743200"/>
            <a:ext cx="182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4A55E8"/>
                </a:solidFill>
                <a:latin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17336" y="1691640"/>
            <a:ext cx="260604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9360" y="1709928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pic>
        <p:nvPicPr>
          <p:cNvPr id="21" name="Picture 20" descr="chart_b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6036" y="2286000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27064" y="2971800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상세 통계 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342900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인원·밀집도·이동분석 그래프 조회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41664" y="2743200"/>
            <a:ext cx="182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4A55E8"/>
                </a:solidFill>
                <a:latin typeface="맑은 고딕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1691640"/>
            <a:ext cx="260604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16568" y="1709928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pic>
        <p:nvPicPr>
          <p:cNvPr id="27" name="Picture 26" descr="b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3244" y="22860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034272" y="2971800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이벤트 확인·조치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4272" y="342900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임계치 초과 이벤트 자동알림 → 조치완료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6634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6283A"/>
                </a:solidFill>
                <a:latin typeface="맑은 고딕"/>
              </a:rPr>
              <a:t>계획 기능 vs 실제 구현 기능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993392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029200"/>
            <a:ext cx="1993392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회원·권한·승인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15184" y="5029200"/>
            <a:ext cx="2528316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15184" y="5029200"/>
            <a:ext cx="2528316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구역·카메라 CRUD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62372" y="5029200"/>
            <a:ext cx="2528316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62372" y="5029200"/>
            <a:ext cx="2528316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영상분석(탐지·추적)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5029200"/>
            <a:ext cx="2528316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9560" y="5029200"/>
            <a:ext cx="2528316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라이브뷰·그래프·지도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486400"/>
            <a:ext cx="1815084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86400"/>
            <a:ext cx="1815084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이벤트 자동화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36876" y="5486400"/>
            <a:ext cx="1815084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36876" y="5486400"/>
            <a:ext cx="1815084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엑셀 다운로드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70832" y="5486400"/>
            <a:ext cx="2528316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70832" y="5486400"/>
            <a:ext cx="2528316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SSE 실시간 스트림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18020" y="548640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18020" y="5486400"/>
            <a:ext cx="1458468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녹화 재생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95360" y="5486400"/>
            <a:ext cx="2884932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60" y="5486400"/>
            <a:ext cx="2884932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임계치 설정 관리자 화면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943600"/>
            <a:ext cx="2350008" cy="384048"/>
          </a:xfrm>
          <a:prstGeom prst="roundRect">
            <a:avLst>
              <a:gd name="adj" fmla="val 50000"/>
            </a:avLst>
          </a:prstGeom>
          <a:solidFill>
            <a:srgbClr val="FD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5943600"/>
            <a:ext cx="2350008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F28A3C"/>
                </a:solidFill>
                <a:latin typeface="맑은 고딕"/>
              </a:rPr>
              <a:t>◷ 구역 간 이동 조회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17520" y="60076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F28A3C"/>
                </a:solidFill>
                <a:latin typeface="맑은 고딕"/>
              </a:rPr>
              <a:t>— 설계 완료 · 구현 예정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DEVELOPMENT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개발 환경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ava_c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499616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1993392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Java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9272" y="1389888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1499616"/>
            <a:ext cx="438912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10712" y="1993392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1389888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javascri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8624" y="1499616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27064" y="1993392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JavaScript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1389888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ndro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4976" y="149961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43416" y="1993392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Android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651760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pringbo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2761488"/>
            <a:ext cx="438912" cy="438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94360" y="3255264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Spring Boot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19272" y="2651760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la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2272" y="2761488"/>
            <a:ext cx="438912" cy="4389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410712" y="3255264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Flask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2651760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ysq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78624" y="2761488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27064" y="3255264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MySQL 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51976" y="2651760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a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4976" y="2761488"/>
            <a:ext cx="438912" cy="4389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043416" y="3255264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MyBatis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913632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pachemav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023360"/>
            <a:ext cx="438912" cy="43891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94360" y="4517136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Maven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19272" y="3913632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radl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62272" y="4023360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3410712" y="4517136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Gradle 9.7.1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35624" y="3913632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ntellijide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78624" y="4023360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227064" y="4517136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IntelliJ IDEA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51976" y="3913632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androidstudi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94976" y="4023360"/>
            <a:ext cx="438912" cy="43891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043416" y="4517136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Android Studio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266944"/>
            <a:ext cx="5669280" cy="502920"/>
          </a:xfrm>
          <a:prstGeom prst="roundRect">
            <a:avLst>
              <a:gd name="adj" fmla="val 25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gi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7512" y="5358384"/>
            <a:ext cx="320040" cy="32004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188720" y="5266944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Git / GitHub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5266944"/>
            <a:ext cx="5669280" cy="502920"/>
          </a:xfrm>
          <a:prstGeom prst="roundRect">
            <a:avLst>
              <a:gd name="adj" fmla="val 25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googlemap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8232" y="5358384"/>
            <a:ext cx="320040" cy="3200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49440" y="5266944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Google Maps API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61304"/>
            <a:ext cx="11201400" cy="384048"/>
          </a:xfrm>
          <a:prstGeom prst="roundRect">
            <a:avLst>
              <a:gd name="adj" fmla="val 30000"/>
            </a:avLst>
          </a:prstGeom>
          <a:solidFill>
            <a:srgbClr val="FD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861304"/>
            <a:ext cx="10698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8A3C"/>
                </a:solidFill>
                <a:latin typeface="맑은 고딕"/>
              </a:rPr>
              <a:t>analysis-server·web-dashboard IDE는 README에 명시가 없어 확인 필요로 남김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TARGET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활용 대상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p_p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8256" y="1874519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57860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지자체 다중밀집지역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99232"/>
            <a:ext cx="3383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지하철역 광장, 축제·행사장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임시 관제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8" y="3657600"/>
            <a:ext cx="307238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" y="3886200"/>
            <a:ext cx="3017520" cy="1554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행사 기간만 임시 카메라·구역 등록</a:t>
            </a:r>
          </a:p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혼잡 임계치 초과 시 자동 경보</a:t>
            </a:r>
          </a:p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행사 종료 후 구역·캠 비활성화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64592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row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7296" y="1874519"/>
            <a:ext cx="566928" cy="566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89120" y="257860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상업시설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999232"/>
            <a:ext cx="3383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쇼핑몰, 대형 전시장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혼잡도 모니터링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44568" y="3657600"/>
            <a:ext cx="307238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1144" y="3886200"/>
            <a:ext cx="3017520" cy="1554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구역별 실시간 인원 추이 확인</a:t>
            </a:r>
          </a:p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피크 시간대 TOP3 자동 집계</a:t>
            </a:r>
          </a:p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매장·구역 단위로 세분화해 관제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64592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u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36" y="1874519"/>
            <a:ext cx="566928" cy="5669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38160" y="257860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소규모 조직 자체 관제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999232"/>
            <a:ext cx="3383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상용 패키지 없이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오픈소스로 자체 구축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3657600"/>
            <a:ext cx="307238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4" y="3886200"/>
            <a:ext cx="3017520" cy="1554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상용 라이선스 비용 없이 구축</a:t>
            </a:r>
          </a:p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MySQL+Spring Boot로 자체 호스팅</a:t>
            </a:r>
          </a:p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필요한 기능을 직접 확장 가능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EXPECTED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기대 효과 (실측 근거)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36576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art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1874519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2450592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4A55E8"/>
                </a:solidFill>
                <a:latin typeface="맑은 고딕"/>
              </a:rPr>
              <a:t>67~86명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비겹침 구도 영상 탐지 인원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(육안 체감치와 근접)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45920"/>
            <a:ext cx="36576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1874519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97680" y="2450592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FA96B"/>
                </a:solidFill>
                <a:latin typeface="맑은 고딕"/>
              </a:rPr>
              <a:t>8~14fps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0896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경량 영상 7캠 동시 구동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(성능버그 11건 수정 후)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45920"/>
            <a:ext cx="36576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0" y="1874519"/>
            <a:ext cx="4572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92440" y="2450592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28A3C"/>
                </a:solidFill>
                <a:latin typeface="맑은 고딕"/>
              </a:rPr>
              <a:t>2.3~3.0fps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10896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4K 영상 7캠 동시 구동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끊김 없이 안정 유지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43400"/>
            <a:ext cx="11201400" cy="1920240"/>
          </a:xfrm>
          <a:prstGeom prst="roundRect">
            <a:avLst>
              <a:gd name="adj" fmla="val 8000"/>
            </a:avLst>
          </a:prstGeom>
          <a:solidFill>
            <a:srgbClr val="EAECFC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55371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363FC9"/>
                </a:solidFill>
                <a:latin typeface="맑은 고딕"/>
              </a:rPr>
              <a:t>정성적 기대 효과</a:t>
            </a:r>
          </a:p>
        </p:txBody>
      </p:sp>
      <p:pic>
        <p:nvPicPr>
          <p:cNvPr id="21" name="Picture 20" descr="pers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992624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80160" y="49743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상시 감시 인력 부담 경감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992624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26283A"/>
                </a:solidFill>
                <a:latin typeface="맑은 고딕"/>
              </a:rPr>
              <a:t>혼잡 단계가 자동 판정되어 관제 담당자가 위험 구역 위주로만 대응 가능</a:t>
            </a:r>
          </a:p>
        </p:txBody>
      </p:sp>
      <p:pic>
        <p:nvPicPr>
          <p:cNvPr id="24" name="Picture 23" descr="ge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76672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80160" y="535838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장소별 맞춤 민감도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5376672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26283A"/>
                </a:solidFill>
                <a:latin typeface="맑은 고딕"/>
              </a:rPr>
              <a:t>구역별 임계치를 직접 조정해 장소 특성(좁은 통로 vs 넓은 광장)에 맞춘 민감도 설정</a:t>
            </a:r>
          </a:p>
        </p:txBody>
      </p:sp>
      <p:pic>
        <p:nvPicPr>
          <p:cNvPr id="27" name="Picture 26" descr="pla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760720"/>
            <a:ext cx="329184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80160" y="57424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실카메라 없이도 데모 가능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760720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26283A"/>
                </a:solidFill>
                <a:latin typeface="맑은 고딕"/>
              </a:rPr>
              <a:t>더미캠 구조로 실제 드론·CCTV 장비 없이도 전체 파이프라인을 반복 검증·시연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02-1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WIREFRAME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와이어프레임 · 화면별 기능 설명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web-dashboard (PC) — 메인 화면 구조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54406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85623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상단바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166360" cy="91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제목·탭·혼잡단계 범례·로그아웃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31720"/>
            <a:ext cx="54406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40487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지역 필터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679192"/>
            <a:ext cx="51663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시 › 구 › 동 3단 드롭다운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2608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99923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구글 지도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273552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구역별 상태색 마커(정상·주의·위험) + 진행 중 이벤트 수 배지, 클릭 시 해당 캠 확대모달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드래그로 지도 높이 조절, 빈 곳 우클릭 시 새 구역·카메라 바로 등록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062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27939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카메라 카드 그리드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553712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체크박스·상태뱃지·위치(구·동·면적)·실시간 썸네일('영상 없음' 포함)·액션버튼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'전체 펼치기'/'4분할 보기' 토글, 클릭 시 '▶통계' 패널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48640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555955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통계 패널(오버레이)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5833872"/>
            <a:ext cx="5166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도넛차트+요약 카드 + 아코디언(인원·밀집도 / 유입유출 / 이동분석 / 임계치 설정 / 피크시간 / 비정상변동)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41732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mobile-app (Android) — 화면 흐름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783080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EAECFC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28232" y="2048256"/>
            <a:ext cx="310896" cy="310896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288" y="1856232"/>
            <a:ext cx="4617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63FC9"/>
                </a:solidFill>
                <a:latin typeface="맑은 고딕"/>
              </a:rPr>
              <a:t>LoginActivity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76288" y="2130552"/>
            <a:ext cx="4617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로그인/회원가입 탭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6288" y="2359152"/>
            <a:ext cx="4617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세션 쿠키 유지(CookieManager 등록)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2734056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8232" y="2999232"/>
            <a:ext cx="310896" cy="310896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2807208"/>
            <a:ext cx="4617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63FC9"/>
                </a:solidFill>
                <a:latin typeface="맑은 고딕"/>
              </a:rPr>
              <a:t>MainActivity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3081528"/>
            <a:ext cx="4617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구역 목록 + 대표 캠 상태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6288" y="3310128"/>
            <a:ext cx="4617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구역별 카드에 대표 캠 상태 표시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685032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EAECFC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28232" y="3950208"/>
            <a:ext cx="310896" cy="310896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76288" y="3758184"/>
            <a:ext cx="4617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63FC9"/>
                </a:solidFill>
                <a:latin typeface="맑은 고딕"/>
              </a:rPr>
              <a:t>ZoneDetailActivity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76288" y="4032504"/>
            <a:ext cx="4617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통계 폴링, 가동·정지, 라이브뷰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76288" y="4261104"/>
            <a:ext cx="4617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5초 폴링 + WebView MJPEG 라이브뷰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636008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28232" y="4901184"/>
            <a:ext cx="310896" cy="310896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4709160"/>
            <a:ext cx="4617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63FC9"/>
                </a:solidFill>
                <a:latin typeface="맑은 고딕"/>
              </a:rPr>
              <a:t>MapActivity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4983480"/>
            <a:ext cx="4617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구역 마커 → 상세 이동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76288" y="5212080"/>
            <a:ext cx="4617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Google Maps SDK, 마커 클릭 시 상세 이동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586984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EAECFC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28232" y="5852160"/>
            <a:ext cx="310896" cy="310896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288" y="5660136"/>
            <a:ext cx="4617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63FC9"/>
                </a:solidFill>
                <a:latin typeface="맑은 고딕"/>
              </a:rPr>
              <a:t>EventListActivity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6288" y="5934456"/>
            <a:ext cx="4617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이벤트 확인·조치완료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76288" y="6163056"/>
            <a:ext cx="4617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임계치 초과 이벤트 목록 처리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02-2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USE CASE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유스케이스 다이어그램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0_use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6981" y="1417320"/>
            <a:ext cx="7047557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 (별첨: diagrams/10_usecase.png·pdf)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시스템 · 서비스 구성도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2_syste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5322" y="1417320"/>
            <a:ext cx="6870875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 (별첨: diagrams/12_system_architecture.png·pdf)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데이터 수집 · 활용 절차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3_data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1308" y="1417320"/>
            <a:ext cx="7738903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 (별첨: diagrams/13_data_flow.png·pdf)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ERD (Entity-Relationship Diagram)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4_e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075" y="1417320"/>
            <a:ext cx="6923369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 (별첨: diagrams/14_erd.png·pdf, 전체 컬럼은 명세서 워크북 참고)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MODEL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AI 모델 선정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365760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x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83080"/>
            <a:ext cx="50292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18288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A8EA3"/>
                </a:solidFill>
                <a:latin typeface="맑은 고딕"/>
              </a:rPr>
              <a:t>HOG+SVM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OpenCV 내장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박스 부정확 → 제외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2232" y="23317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4A55E8"/>
                </a:solidFill>
                <a:latin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554480"/>
            <a:ext cx="365760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7830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800" y="18288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28A3C"/>
                </a:solidFill>
                <a:latin typeface="맑은 고딕"/>
              </a:rPr>
              <a:t>YOLOv8n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231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기본 해상도(640)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밀집군중 탐지 실패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23317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4A55E8"/>
                </a:solidFill>
                <a:latin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554480"/>
            <a:ext cx="365760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heck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0" y="17830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52560" y="18288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A96B"/>
                </a:solidFill>
                <a:latin typeface="맑은 고딕"/>
              </a:rPr>
              <a:t>YOLOv8s + 1280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4231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추론해상도 상향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평균 4명→11명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39"/>
            <a:ext cx="11201400" cy="685800"/>
          </a:xfrm>
          <a:prstGeom prst="roundRect">
            <a:avLst>
              <a:gd name="adj" fmla="val 15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886200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34440" y="3886200"/>
            <a:ext cx="10241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3FC9"/>
                </a:solidFill>
                <a:latin typeface="맑은 고딕"/>
              </a:rPr>
              <a:t>영상 교체 후(비겹침 항공뷰, ~67명) 동일 모델로 평균 67명 탐지 — 육안 체감치와 근접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17720"/>
            <a:ext cx="112014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75488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6283A"/>
                </a:solidFill>
                <a:latin typeface="맑은 고딕"/>
              </a:rPr>
              <a:t>검증 방법 및 한계 (솔직한 평가)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074920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EA3"/>
                </a:solidFill>
                <a:latin typeface="맑은 고딕"/>
              </a:rPr>
              <a:t>YOLO는 COCO 사전학습 범용 모델 — 모델 크기·추론해상도·신뢰도 임계치 조정 방식. 수백 명 겹침 장면은 더 큰 모델(YOLOv8m/l)이 필요함을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DRONE STREAM SUBSTITUTION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드론 · IoT · 하드웨어 연동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1280160"/>
          </a:xfrm>
          <a:prstGeom prst="roundRect">
            <a:avLst>
              <a:gd name="adj" fmla="val 10000"/>
            </a:avLst>
          </a:prstGeom>
          <a:solidFill>
            <a:srgbClr val="EAECFC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83080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08760" y="1755648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63FC9"/>
                </a:solidFill>
                <a:latin typeface="맑은 고딕"/>
              </a:rPr>
              <a:t>드론 실시간 영상 스트리밍을 녹화 영상으로 대체하여 시연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286000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드론·CCTV가 실시간으로 송출하는 영상을 DUMMY 캠(녹화 영상 반복재생)으로 대체 — 분석 결과도 미리 캐시해 재생에 맞춰 내보내는 방식으로 실시간처럼 시연 (README에 설계 의도로 명시)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71800"/>
            <a:ext cx="5486400" cy="3246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3200400"/>
            <a:ext cx="475488" cy="4754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17320" y="3246120"/>
            <a:ext cx="43434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363FC9"/>
                </a:solidFill>
                <a:latin typeface="맑은 고딕"/>
              </a:rPr>
              <a:t>녹화영상으로 대체한 이유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3931920"/>
            <a:ext cx="5029200" cy="2194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실제 드론 비행(허가·기체·조종인프라) 인프라는 개인 프로젝트 범위 밖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녹화영상 대체로 네트워크·기체 장애 없이 안정적으로 반복 시연 가능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분석 파이프라인은 입력이 드론이든 CCTV든 동일하게 동작·검증됨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16개 카메라에 라이선스가 명확한 영상 2종을 분산 배정해 다양성 확보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971800"/>
            <a:ext cx="5486400" cy="3246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8" y="3200400"/>
            <a:ext cx="475488" cy="4754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32320" y="3246120"/>
            <a:ext cx="43434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363FC9"/>
                </a:solidFill>
                <a:latin typeface="맑은 고딕"/>
              </a:rPr>
              <a:t>실시간 스트림과 동일하게 동작하는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931920"/>
            <a:ext cx="5029200" cy="2194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cameras.source_type = LIVE/DUMMY로 설계 — 두 소스 모두 같은 분석 경로 사용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DUMMY는 가동 시 전체 분석 후 캐시, 1초 간격 재생으로 실시간처럼 제공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실제 드론 RTSP 라이브 연동 자체는 미검증(확인 필요로 명시, 추측 배제)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RTSP 라이브 연동 실험은 04-3 향후 확장 항목으로 별도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CORE LOGIC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핵심 코드 ① — 유입 · 유출 판정 로직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6309360" cy="4069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6309360" cy="292608"/>
          </a:xfrm>
          <a:prstGeom prst="roundRect">
            <a:avLst>
              <a:gd name="adj" fmla="val 10000"/>
            </a:avLst>
          </a:prstGeom>
          <a:solidFill>
            <a:srgbClr val="14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545336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AA8C8"/>
                </a:solidFill>
                <a:latin typeface="Consolas"/>
              </a:rPr>
              <a:t>analysis-server/core/analyzer.py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11096"/>
            <a:ext cx="5943600" cy="355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def zone_of(cx, cy, width, height):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margin_x = width * MARGIN_RATIO   # 화면 안쪽 15%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margin_y = height * MARGIN_RATIO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if margin_x &lt;= cx &lt;= width-margin_x and margin_y &lt;= cy &lt;= height-margin_y: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    return "CENTER"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8A9AC8"/>
                </a:solidFill>
                <a:latin typeface="Consolas"/>
              </a:rPr>
              <a:t>    # 가장 가까운 가장자리를 N/E/S/W로 판정 ...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prev = last_zone.get(track_id)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if prev is not None and prev != zone: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if prev != "CENTER" and zone == "CENTER":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    second_in[prev] += 1          # 가장자리 -&gt; 중앙 = 유입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elif prev == "CENTER" and zone != "CENTER":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    second_out[zone] += 1         # 중앙 -&gt; 가장자리 = 유출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5544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363FC9"/>
                </a:solidFill>
                <a:latin typeface="맑은 고딕"/>
              </a:rPr>
              <a:t>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965960"/>
            <a:ext cx="4663440" cy="3566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판정선(화면 안쪽 15%) 기준 CENTER·N·E·S·W 5개 구역 분류</a:t>
            </a:r>
          </a:p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직전·현재 구역 비교로 가장자리→중앙 전환은 유입, 반대는 유출</a:t>
            </a:r>
          </a:p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화면 내부 생성·소멸은 집계 제외 — 판정선 통과만 인정</a:t>
            </a:r>
          </a:p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ByteTrack의 track_id 유지가 이 비교의 전제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CORE LOGIC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핵심 코드 ② — 혼잡 이벤트 자동 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6583680" cy="4069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6583680" cy="292608"/>
          </a:xfrm>
          <a:prstGeom prst="roundRect">
            <a:avLst>
              <a:gd name="adj" fmla="val 10000"/>
            </a:avLst>
          </a:prstGeom>
          <a:solidFill>
            <a:srgbClr val="14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54533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AA8C8"/>
                </a:solidFill>
                <a:latin typeface="Consolas"/>
              </a:rPr>
              <a:t>backend-api/.../EventService.java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11096"/>
            <a:ext cx="6217920" cy="355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public void checkAndRecord(int zoneId, Integer cameraId, BigDecimal density) {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List&lt;EventThreshold&gt; thresholds = getThresholds(zoneId);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int crossedLevel = 0;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for (EventThreshold t : thresholds) {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    if (density.compareTo(t.getDensityThreshold()) &gt;= 0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            &amp;&amp; t.getLevelNo() &gt; crossedLevel) {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        crossedLevel = t.getLevelNo();      // 더 높은 단계로 갱신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    }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}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if (crossedLevel == 0) return;               // 임계치 미달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if (eventMapper.selectOpenEventForZone(zoneId) != null) {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    return;   // 이미 미처리 이벤트 있으면 중복 생성 안 함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}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eventMapper.insertEvent(new Event(zoneId, crossedLevel, density));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55448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363FC9"/>
                </a:solidFill>
                <a:latin typeface="맑은 고딕"/>
              </a:rPr>
              <a:t>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965960"/>
            <a:ext cx="4389120" cy="3566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분단위 통계 저장 직후 매번 호출</a:t>
            </a:r>
          </a:p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임계치를 1단계부터 비교해 넘은 것 중 가장 높은 단계 선택</a:t>
            </a:r>
          </a:p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미처리 이벤트 있으면 생략 — 1분마다 중복 이벤트 방지</a:t>
            </a:r>
          </a:p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RESOLVED 후 재초과 시 신규 생성(TC-19로 검증)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ACHIEVEMENT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성과 · 목표 달성도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A96B"/>
                </a:solidFill>
                <a:latin typeface="맑은 고딕"/>
              </a:rPr>
              <a:t>✓ 완료 (10)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2299716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2299716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4개 모듈 최소기능 구현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12364" y="1755648"/>
            <a:ext cx="2299716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2364" y="1755648"/>
            <a:ext cx="2299716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회원·4단계권한·승인흐름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1808" y="1755648"/>
            <a:ext cx="2724912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1808" y="1755648"/>
            <a:ext cx="2724912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영상분석(탐지·추적·이동분석)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755648"/>
            <a:ext cx="2583180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755648"/>
            <a:ext cx="2583180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16개 카메라 다중 안정재생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94560"/>
            <a:ext cx="2016252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194560"/>
            <a:ext cx="2016252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웹+모바일 동시 지원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28900" y="2194560"/>
            <a:ext cx="2157984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8900" y="2194560"/>
            <a:ext cx="2157984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이벤트 자동화·작업이력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6612" y="2194560"/>
            <a:ext cx="1449324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96612" y="2194560"/>
            <a:ext cx="1449324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엑셀 다운로드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55664" y="2194560"/>
            <a:ext cx="2016252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55664" y="2194560"/>
            <a:ext cx="2016252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SSE 실시간 스트림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81644" y="2194560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81644" y="2194560"/>
            <a:ext cx="1165860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녹화 재생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2633472"/>
            <a:ext cx="2299716" cy="365760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2633472"/>
            <a:ext cx="2299716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임계치 설정 관리자 화면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291840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28A3C"/>
                </a:solidFill>
                <a:latin typeface="맑은 고딕"/>
              </a:rPr>
              <a:t>◷ 설계 완료 · 구현 예정 (1)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657600"/>
            <a:ext cx="2743200" cy="365760"/>
          </a:xfrm>
          <a:prstGeom prst="roundRect">
            <a:avLst>
              <a:gd name="adj" fmla="val 50000"/>
            </a:avLst>
          </a:prstGeom>
          <a:solidFill>
            <a:srgbClr val="FD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657600"/>
            <a:ext cx="2743200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F28A3C"/>
                </a:solidFill>
                <a:latin typeface="맑은 고딕"/>
              </a:rPr>
              <a:t>◷ 구역 간 이동 조회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315968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04B4B"/>
                </a:solidFill>
                <a:latin typeface="맑은 고딕"/>
              </a:rPr>
              <a:t>✕ 미구현 (2)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681728"/>
            <a:ext cx="1591056" cy="365760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681728"/>
            <a:ext cx="1591056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E04B4B"/>
                </a:solidFill>
                <a:latin typeface="맑은 고딕"/>
              </a:rPr>
              <a:t>✕ 비밀번호 재설정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03704" y="4681728"/>
            <a:ext cx="3008376" cy="365760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03704" y="4681728"/>
            <a:ext cx="3008376" cy="36576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E04B4B"/>
                </a:solidFill>
                <a:latin typeface="맑은 고딕"/>
              </a:rPr>
              <a:t>✕ 관리자 간 관리 기능(acman)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440680"/>
            <a:ext cx="11201400" cy="621792"/>
          </a:xfrm>
          <a:prstGeom prst="roundRect">
            <a:avLst>
              <a:gd name="adj" fmla="val 18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40680"/>
            <a:ext cx="106984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63FC9"/>
                </a:solidFill>
                <a:latin typeface="맑은 고딕"/>
              </a:rPr>
              <a:t>근거: README 진행상태 체크리스트 + 로컬 MySQL·Spring Boot 기동 end-to-end 검증(curl·Chrome 헤드리스 브라우저 클릭 테스트 포함)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04-2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아쉬운 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x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340" y="182880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" y="2377440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구역 간 이동 조회</a:t>
            </a:r>
          </a:p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미구현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3017520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91840"/>
            <a:ext cx="2203704" cy="2286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zone_flows 집계 로직 자체가 아직 없음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요구사항·설계는 완료했지만 보류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다음 작업 1순위로 개선계획에 반영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0128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4548" y="182880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19856" y="2377440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극밀집 군중 탐지</a:t>
            </a:r>
          </a:p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한계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11296" y="3017520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3291840"/>
            <a:ext cx="2203704" cy="2286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수백명이 겹치는 장면은 YOLOv8s도 일부 누락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추론해상도 상향으로 4명→11명까지는 개선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더 큰 모델(YOLOv8m/l)이 필요함을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17336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1756" y="1828800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7064" y="2377440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자동화 테스트</a:t>
            </a:r>
          </a:p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부재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18504" y="3017520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3291840"/>
            <a:ext cx="2203704" cy="2286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전부 curl·브라우저·에뮬레이터 수동 검증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회귀 테스트를 매번 수동으로 재현하는 중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JUnit 단위테스트 추가를 개선계획에 반영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24544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do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8964" y="1828800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034272" y="2377440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영상 출처 기록</a:t>
            </a:r>
          </a:p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미흡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25712" y="3017520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3291840"/>
            <a:ext cx="2203704" cy="2286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Pexels 영상 5개 다운로드 URL 미기록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라이선스 자체는 상업적 이용 가능해 문제없음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앞으로는 수집 시 URL 즉시 기록 규칙화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04-2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IMPROVEMENT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개선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20140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2376" y="1810512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645920"/>
            <a:ext cx="101498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283A"/>
                </a:solidFill>
                <a:latin typeface="맑은 고딕"/>
              </a:rPr>
              <a:t>구역 간 이동 조회(zone_flows 집계) 구현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1120140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2633472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468880"/>
            <a:ext cx="101498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283A"/>
                </a:solidFill>
                <a:latin typeface="맑은 고딕"/>
              </a:rPr>
              <a:t>비밀번호 재설정 · 관리자 간 관리 기능 구현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1120140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2376" y="3456432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291840"/>
            <a:ext cx="101498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283A"/>
                </a:solidFill>
                <a:latin typeface="맑은 고딕"/>
              </a:rPr>
              <a:t>유입유출·이벤트 중복방지 로직 위주 JUnit 단위테스트 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114800"/>
            <a:ext cx="1120140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2376" y="4279392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14800"/>
            <a:ext cx="101498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283A"/>
                </a:solidFill>
                <a:latin typeface="맑은 고딕"/>
              </a:rPr>
              <a:t>YOLOv8m 교체 실험 후 속도·정확도 트레이드오프 재측정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37760"/>
            <a:ext cx="1120140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2376" y="5102352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937760"/>
            <a:ext cx="101498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283A"/>
                </a:solidFill>
                <a:latin typeface="맑은 고딕"/>
              </a:rPr>
              <a:t>영상 신규 수집 시 다운로드 페이지 URL 즉시 기록 규칙화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04-3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향후 확장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548640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2024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18928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363FC9"/>
                </a:solidFill>
                <a:latin typeface="맑은 고딕"/>
              </a:rPr>
              <a:t>실시간 RTSP 라이브 연동 실험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441448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CCTV·드론이 실제로 송출하는 RTSP 스트림을 더미캠과 동일한 분석 경로로 검증</a:t>
            </a:r>
          </a:p>
        </p:txBody>
      </p:sp>
      <p:sp>
        <p:nvSpPr>
          <p:cNvPr id="11" name="Oval 10"/>
          <p:cNvSpPr/>
          <p:nvPr/>
        </p:nvSpPr>
        <p:spPr>
          <a:xfrm>
            <a:off x="5440680" y="1691640"/>
            <a:ext cx="457200" cy="45720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00200"/>
            <a:ext cx="548640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92024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18928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363FC9"/>
                </a:solidFill>
                <a:latin typeface="맑은 고딕"/>
              </a:rPr>
              <a:t>잔여 기능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441448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구역 간 이동 조회(zone_flows 집계), 비밀번호 재설정, 관리자 간 관리 기능</a:t>
            </a:r>
          </a:p>
        </p:txBody>
      </p:sp>
      <p:sp>
        <p:nvSpPr>
          <p:cNvPr id="16" name="Oval 15"/>
          <p:cNvSpPr/>
          <p:nvPr/>
        </p:nvSpPr>
        <p:spPr>
          <a:xfrm>
            <a:off x="11109960" y="1691640"/>
            <a:ext cx="457200" cy="45720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023360"/>
            <a:ext cx="548640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hart_b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343400"/>
            <a:ext cx="548640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554480" y="43159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363FC9"/>
                </a:solidFill>
                <a:latin typeface="맑은 고딕"/>
              </a:rPr>
              <a:t>AI 모델·예측 고도화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864608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YOLOv8m/l 비교 실험으로 속도·정확도 트레이드오프 재측정, 멀티존 혼잡 예측</a:t>
            </a:r>
          </a:p>
        </p:txBody>
      </p:sp>
      <p:sp>
        <p:nvSpPr>
          <p:cNvPr id="21" name="Oval 20"/>
          <p:cNvSpPr/>
          <p:nvPr/>
        </p:nvSpPr>
        <p:spPr>
          <a:xfrm>
            <a:off x="5440680" y="4114800"/>
            <a:ext cx="457200" cy="45720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023360"/>
            <a:ext cx="548640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343400"/>
            <a:ext cx="548640" cy="5486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3159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363FC9"/>
                </a:solidFill>
                <a:latin typeface="맑은 고딕"/>
              </a:rPr>
              <a:t>알림·배포 확장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864608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이벤트 알림 채널 확장(푸시·문자 연동), 클라우드 환경으로 배포</a:t>
            </a:r>
          </a:p>
        </p:txBody>
      </p:sp>
      <p:sp>
        <p:nvSpPr>
          <p:cNvPr id="26" name="Oval 25"/>
          <p:cNvSpPr/>
          <p:nvPr/>
        </p:nvSpPr>
        <p:spPr>
          <a:xfrm>
            <a:off x="11109960" y="4114800"/>
            <a:ext cx="457200" cy="45720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05-1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예상 질문 및 답변 (1/2)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7218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왜 YOLOv8n이 아니라 YOLOv8s를 선택했나?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극밀집 군중 영상에서 YOLOv8n은 평균 4명만 탐지했지만, YOLOv8s + 추론해상도 1280 조합은 11명까지 늘었습니다. 추론 속도는 더 느려지지만 '영상 속 인원을 더 정확히 세는 것'이 우선순위라 판단했습니다.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2588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47218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더미캠인데 어떻게 실시간처럼 보이나?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캠을 가동시키면 영상 전체를 먼저 분석해 초단위 결과와 라이브뷰용 프레임을 캐시로 만들어둡니다. 이후 재생은 그 캐시를 경과시간 기반으로 순차 조회만 하면 되어, 실제 분석 없이도 실시간처럼 보일 수 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5760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80390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SSE는 왜 추가했나? 폴링과 뭐가 다른가?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폴링은 몇 초마다 '변화가 있든 없든' 요청을 보내 서버·DB에 불필요한 부하를 줍니다. SSE는 StatsService.recordSample()이 실제로 새 통계를 반영한 순간에만 구독자에게 push하므로, 지연은 줄고 불필요한 조회는 사라집니다.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65760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380390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녹화 재생은 실제 영상을 다시 보여주나?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영상 자체를 재생하는 기능은 아닙니다. 해당 구간에 어떤 더미 영상이 재생되었는지의 이력(recordings)과 그 시점의 인원 추이 통계를 함께 보여주는 방식 — DB·백엔드가 가진 데이터만으로 만들 수 있는 정직한 범위로 구현했습니다.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05-2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예상 질문 및 답변 (2/2)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7218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드론은 실제로 이 프로젝트에서 어떻게 쓰이나?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현재는 실제 드론을 날리지 않습니다. 드론·CCTV가 실시간으로 송출하는 영상을 DUMMY 캠(녹화영상 반복재생)으로 대체해 분석 파이프라인을 동일하게 검증·시연하는 방식이며, 이는 README에 설계 의도로 명시돼 있습니다.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2588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47218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다중 카메라에서 왜 느려졌고 어떻게 고쳤나?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세 가지가 겹쳐 있었습니다 — 세로 영상이 제대로 안 줄어든 문제, sleep 없는 스레드가 GIL을 독점한 문제, 4K 영상에서 따라잡기 비용이 더 커지는 악순환. 각각 축소 기준 변경, 강제 sleep, 스킵 프레임 상한으로 해결했습니다.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5760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80390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Spring Boot 전환 후 새 기능은 어떻게 검증했나?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엑셀 다운로드·SSE·녹화재생·임계치 관리자 화면 전부 로컬에 MySQL 8 + Spring Boot를 실제로 띄우고, curl로 SSE push와 엑셀 바이트까지 확인한 뒤 Chrome 헤드리스 브라우저로 로그인부터 버튼 클릭까지 끝까지 재현해서 검증했습니다.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65760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380390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가장 어려웠던 문제는 무엇이었나?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브라우저의 호스트당 동시연결 6개 제한 문제였습니다. curl로는 모든 캠이 정상이었는데 브라우저에서만 캠 1대가 멈춘 것처럼 보였고, 네트워크 탭을 직접 열어 원인을 찾았습니다 — '코드 검증'과 '실제 화면 확인'은 다르다는 걸 체득했습니다.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vi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4572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358C"/>
                </a:solidFill>
                <a:latin typeface="맑은 고딕"/>
              </a:rPr>
              <a:t>드론관제시스템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02A70"/>
                </a:solidFill>
                <a:latin typeface="맑은 고딕"/>
              </a:rPr>
              <a:t>GitHub: rlaeoaud7018/DroneControllSystemApp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57607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0" y="45720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